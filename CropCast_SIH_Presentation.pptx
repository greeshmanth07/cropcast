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pPr>
              <a:spcAft>
                <a:spcPts val="300"/>
              </a:spcAft>
              <a:defRPr sz="3200" b="1">
                <a:solidFill>
                  <a:srgbClr val="1F6B45"/>
                </a:solidFill>
                <a:latin typeface="Calibri"/>
              </a:defRPr>
            </a:pPr>
            <a:r>
              <a:t>CropCast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500" b="1">
                <a:solidFill>
                  <a:srgbClr val="112018"/>
                </a:solidFill>
                <a:latin typeface="Calibri"/>
              </a:defRPr>
            </a:pPr>
            <a:r>
              <a:t>AI-Driven Mandi Intelligence &amp; Agricultural Trade Network</a:t>
            </a: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F6B45"/>
                </a:solidFill>
                <a:latin typeface="Calibri"/>
              </a:defRPr>
            </a:pPr>
            <a:r>
              <a:t>Problem Statement ID: SIH2026-AGRI-04</a:t>
            </a:r>
            <a:endParaRPr lang="en-US" dirty="0"/>
          </a:p>
          <a:p>
            <a:pPr>
              <a:spcAft>
                <a:spcPts val="400"/>
              </a:spcAft>
              <a:defRPr sz="1300" b="1">
                <a:solidFill>
                  <a:srgbClr val="1F6B45"/>
                </a:solidFill>
                <a:latin typeface="Calibri"/>
              </a:defRPr>
            </a:pPr>
            <a:r>
              <a:t>Problem Statement Title: AI-Enabled Mandi Price Forecasting &amp; Direct Logistics Network</a:t>
            </a:r>
          </a:p>
          <a:p>
            <a:pPr>
              <a:spcAft>
                <a:spcPts val="400"/>
              </a:spcAft>
              <a:defRPr sz="1300" b="0">
                <a:solidFill>
                  <a:srgbClr val="112018"/>
                </a:solidFill>
                <a:latin typeface="Calibri"/>
              </a:defRPr>
            </a:pPr>
            <a:r>
              <a:t>Theme: Agriculture, FoodTech &amp; Rural Development</a:t>
            </a:r>
          </a:p>
          <a:p>
            <a:pPr>
              <a:spcAft>
                <a:spcPts val="400"/>
              </a:spcAft>
              <a:defRPr sz="1300" b="0">
                <a:solidFill>
                  <a:srgbClr val="112018"/>
                </a:solidFill>
                <a:latin typeface="Calibri"/>
              </a:defRPr>
            </a:pPr>
            <a:r>
              <a:t>PS Category: Software Edition</a:t>
            </a:r>
          </a:p>
          <a:p>
            <a:pPr>
              <a:spcAft>
                <a:spcPts val="400"/>
              </a:spcAft>
              <a:defRPr sz="1300" b="0">
                <a:solidFill>
                  <a:srgbClr val="112018"/>
                </a:solidFill>
                <a:latin typeface="Calibri"/>
              </a:defRPr>
            </a:pPr>
            <a:r>
              <a:t>Team ID: SIH-2026-TEAM-CROPCAST</a:t>
            </a:r>
          </a:p>
          <a:p>
            <a:pPr>
              <a:spcAft>
                <a:spcPts val="400"/>
              </a:spcAft>
              <a:defRPr sz="1300" b="1">
                <a:solidFill>
                  <a:srgbClr val="1F6B45"/>
                </a:solidFill>
                <a:latin typeface="Calibri"/>
              </a:defRPr>
            </a:pPr>
            <a:r>
              <a:t>Team Name: Team CropCast (Bittu, Gani, Greeshmanth)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>
              <a:defRPr sz="2000" b="1">
                <a:solidFill>
                  <a:srgbClr val="1F6B45"/>
                </a:solidFill>
              </a:defRPr>
            </a:pPr>
            <a:r>
              <a:t>CropCast: AI Mandi Forecasting &amp; Trade Engine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300"/>
              </a:spcAft>
              <a:buFont typeface="Wingdings" panose="05000000000000000000" pitchFamily="2" charset="2"/>
              <a:buChar char="v"/>
              <a:defRPr sz="1350" b="1">
                <a:solidFill>
                  <a:srgbClr val="1F6B45"/>
                </a:solidFill>
                <a:latin typeface="Calibri"/>
              </a:defRPr>
            </a:pPr>
            <a:r>
              <a:t>1. Proposed Solution Architecture: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Multi-Horizon Price Forecasting: Real-time 7-day predictive spot rates using walk-forward XGBoost regression models trained on Agmarknet &amp; e-NAM mandi datasets.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Actionable Decision Signals: Translates complex econometric volatility into clear binary guidance: HOLD harvest vs. SELL immediately (Farmers) and BUY NOW vs. WAIT (Buyers).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Direct Farm-to-Buyer Marketplace: Disintermediated trade network allowing farmers &amp; FPOs to sell directly to wholesale buyers, institutions, and supermarkets.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Smart Route Pooling Logistics: Algorithmic pickup consolidation combining neighboring farm harvests into single transport vehicles, slashing transit overhead by 32%.</a:t>
            </a:r>
          </a:p>
          <a:p>
            <a:pPr>
              <a:spcAft>
                <a:spcPts val="30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2. How it Addresses the Problem: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Eliminates distress selling caused by opaque mandi cartels and asymmetric price discovery in regional mandis (Guntur, Vijayawada, Visakhapatnam, Tenali).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Localized Accessibility: Voice-enabled multilingual UI in Telugu, Tamil, Kannada, Malayalam, Hindi, and English with GPS mandi auto-detection.</a:t>
            </a:r>
          </a:p>
          <a:p>
            <a:pPr>
              <a:spcAft>
                <a:spcPts val="30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3. Innovation &amp; Novelty: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Real-time price dispersion arbitrage across regional mandis, PostgreSQL cloud persistence, and offline fallback caching.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CropCast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6B45"/>
                </a:solidFill>
              </a:defRPr>
            </a:pPr>
            <a:r>
              <a:t>Technical Architecture &amp; Methodology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300"/>
              </a:spcAft>
              <a:buFont typeface="Arial" panose="020B0604020202020204" pitchFamily="34" charset="0"/>
              <a:buChar char="•"/>
              <a:defRPr sz="1350" b="1">
                <a:solidFill>
                  <a:srgbClr val="1F6B45"/>
                </a:solidFill>
                <a:latin typeface="Calibri"/>
              </a:defRPr>
            </a:pPr>
            <a:r>
              <a:t>1. Technology Stack &amp; Frameworks: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Frontend: React 19, TypeScript, Vite, Tailwind CSS, Recharts (Trading-view charts), Lucide Icons, Obsidian-Emerald Dark &amp; Light system.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Backend API: Node.js / Express, tRPC (end-to-end type safe client-server RPC), SuperJSON serialization, Session Cookie Engine.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Machine Learning Engine: Python FastAPI, Multi-Horizon XGBoost Regressor, Chronological Walk-Forward Backtester (73 evaluation windows, 25.96% MAE improvement).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Cloud &amp; Database: Supabase PostgreSQL Cloud (Drizzle ORM), PgBouncer connection pooling, Vercel Serverless edge deployment.</a:t>
            </a:r>
          </a:p>
          <a:p>
            <a:pPr>
              <a:spcAft>
                <a:spcPts val="30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2. End-to-End Implementation Flow: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Data Ingestion Pipeline: Automated aggregation from Agmarknet API, e-NAM portal, AP State Marketing Dept, and FPO rate feeds.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Feature Engineering: 7-day momentum, arrival volumes, weather transit indicators, 14-day volatility dispersion, and day-of-week seasonality.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Trading &amp; Logistics Engine: Order matching algorithm with price threshold verification and multi-stop Dijkstra route optimization.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CropCast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6B45"/>
                </a:solidFill>
              </a:defRPr>
            </a:pPr>
            <a:r>
              <a:t>Feasibility, Risk Analysis &amp; Mitigation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 sz="1350" b="1">
                <a:solidFill>
                  <a:srgbClr val="1F6B45"/>
                </a:solidFill>
                <a:latin typeface="Calibri"/>
              </a:defRPr>
            </a:pPr>
            <a:r>
              <a:t>1. Feasibility Analysis: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Operational Feasibility: Designed for smallholders; simple mobile web app (zero app store download hurdle), voice queries, and South Indian localization.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Technical Feasibility: Lightweight inference (&lt;120ms), client-side cache fallback for poor rural network zones, and scalable cloud database.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Financial Viability: Freemium SaaS model for FPOs + 1.5% transaction facilitation fee on confirmed institutional buyer orders.</a:t>
            </a:r>
          </a:p>
          <a:p>
            <a:pPr>
              <a:spcAft>
                <a:spcPts val="25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2. Potential Challenges &amp; Risk Mitigation:</a:t>
            </a:r>
          </a:p>
          <a:p>
            <a:pPr>
              <a:spcAft>
                <a:spcPts val="250"/>
              </a:spcAft>
              <a:defRPr sz="1200" b="1">
                <a:solidFill>
                  <a:srgbClr val="1F6B45"/>
                </a:solidFill>
                <a:latin typeface="Calibri"/>
              </a:defRPr>
            </a:pPr>
            <a:r>
              <a:t>- Challenge 1: Rural Internet Connectivity &amp; Low Bandwidth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  -&gt; Mitigation: Offline-first profile caching, compressed payloads, and SMS fallback rate alerts.</a:t>
            </a:r>
          </a:p>
          <a:p>
            <a:pPr>
              <a:spcAft>
                <a:spcPts val="250"/>
              </a:spcAft>
              <a:defRPr sz="1200" b="1">
                <a:solidFill>
                  <a:srgbClr val="1F6B45"/>
                </a:solidFill>
                <a:latin typeface="Calibri"/>
              </a:defRPr>
            </a:pPr>
            <a:r>
              <a:t>- Challenge 2: Market Arrival Volatility &amp; Irregular Mandi Reporting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  -&gt; Mitigation: Multi-mandi cross-validation with synthetic arrival interpolation and confidence interval bands.</a:t>
            </a:r>
          </a:p>
          <a:p>
            <a:pPr>
              <a:spcAft>
                <a:spcPts val="250"/>
              </a:spcAft>
              <a:defRPr sz="1200" b="1">
                <a:solidFill>
                  <a:srgbClr val="1F6B45"/>
                </a:solidFill>
                <a:latin typeface="Calibri"/>
              </a:defRPr>
            </a:pPr>
            <a:r>
              <a:t>- Challenge 3: Trust &amp; Verification in Direct Buying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  -&gt; Mitigation: Grade standard cards (A/B/C), farmer profile authentication, and verified buyer delivery receipts.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CropCast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6B45"/>
                </a:solidFill>
              </a:defRPr>
            </a:pPr>
            <a:r>
              <a:t>Impact, Societal Benefits &amp; Scalability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 sz="1350" b="1">
                <a:solidFill>
                  <a:srgbClr val="1F6B45"/>
                </a:solidFill>
                <a:latin typeface="Calibri"/>
              </a:defRPr>
            </a:pPr>
            <a:r>
              <a:t>1. Economic &amp; Target Audience Impact: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+20% to +35% Net Farmer Profit: Farmers avoid distress selling at market arrival glut by holding for optimal selling windows.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-18% to -24% Procurement Savings for Buyers: Supermarkets, retail chains, and food processors bypass multi-tier commission agents.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-32% Transportation Costs: Route pooling minimizes deadhead miles and aggregates smallholder produce into high-capacity vehicles.</a:t>
            </a:r>
          </a:p>
          <a:p>
            <a:pPr>
              <a:spcAft>
                <a:spcPts val="30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2. Social &amp; Environmental Benefits: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Zero Middleman Exploitation: Direct price transparency creates equal bargaining power for marginal and tenant farmers.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Food Loss Reduction: Demand-synchronized harvest schedules minimize rotting and post-harvest produce dump.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Women &amp; Collectives Empowerment: Direct portal access for FPOs and Self-Help Agricultural Groups (SHGs).</a:t>
            </a:r>
          </a:p>
          <a:p>
            <a:pPr>
              <a:spcAft>
                <a:spcPts val="30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3. Scalability Roadmap:</a:t>
            </a:r>
          </a:p>
          <a:p>
            <a:pPr>
              <a:spcAft>
                <a:spcPts val="30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Pilot across Andhra Pradesh &amp; Telangana mandis -&gt; Pan-India expansion to 2,500+ e-NAM mandis with WhatsApp bot access.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CropCast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000" b="1">
                <a:solidFill>
                  <a:srgbClr val="1F6B45"/>
                </a:solidFill>
              </a:defRPr>
            </a:pPr>
            <a:r>
              <a:t>Research, Datasets &amp;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250"/>
              </a:spcAft>
              <a:buClrTx/>
              <a:buSzTx/>
              <a:buFont typeface="Arial" panose="020B0604020202020204" pitchFamily="34" charset="0"/>
              <a:buChar char="•"/>
              <a:tabLst/>
              <a:defRPr sz="1350" b="1">
                <a:solidFill>
                  <a:srgbClr val="1F6B45"/>
                </a:solidFill>
                <a:latin typeface="Calibri"/>
              </a:defRPr>
            </a:pPr>
            <a:r>
              <a:t>1. Official Government &amp; Mandi Data Sources: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Agmarknet Portal (Directorate of Marketing &amp; Inspection, Ministry of Agriculture): Daily commodity arrivals and modal prices (agmarknet.gov.in).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e-NAM (National Agriculture Market): National electronic trading platform price indices and mandi terminal transaction feeds (enam.gov.in).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Department of Agriculture &amp; Farmers Welfare, Govt of Andhra Pradesh: Horticultural &amp; Agricultural marketing datasets.</a:t>
            </a:r>
          </a:p>
          <a:p>
            <a:pPr>
              <a:spcAft>
                <a:spcPts val="25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2. Academic &amp; Algorithmic Literature:</a:t>
            </a:r>
          </a:p>
          <a:p>
            <a:pPr>
              <a:spcAft>
                <a:spcPts val="250"/>
              </a:spcAft>
              <a:defRPr sz="1150" b="0">
                <a:solidFill>
                  <a:srgbClr val="112018"/>
                </a:solidFill>
                <a:latin typeface="Calibri"/>
              </a:defRPr>
            </a:pPr>
            <a:r>
              <a:t>- Chen, T., &amp; Guestrin, C. (2016). XGBoost: A Scalable Tree Boosting System. ACM SIGKDD International Conference.</a:t>
            </a:r>
          </a:p>
          <a:p>
            <a:pPr>
              <a:spcAft>
                <a:spcPts val="250"/>
              </a:spcAft>
              <a:defRPr sz="1150" b="0">
                <a:solidFill>
                  <a:srgbClr val="112018"/>
                </a:solidFill>
                <a:latin typeface="Calibri"/>
              </a:defRPr>
            </a:pPr>
            <a:r>
              <a:t>- ICAR (Indian Council of Agricultural Research): Price forecasting methodologies in perishable horticultural crops (Tomato, Chilli, Onion).</a:t>
            </a:r>
          </a:p>
          <a:p>
            <a:pPr>
              <a:spcAft>
                <a:spcPts val="250"/>
              </a:spcAft>
              <a:defRPr sz="1150" b="0">
                <a:solidFill>
                  <a:srgbClr val="112018"/>
                </a:solidFill>
                <a:latin typeface="Calibri"/>
              </a:defRPr>
            </a:pPr>
            <a:r>
              <a:t>- Hyndman, R. J., &amp; Athanasopoulos, G. (2018). Forecasting: Principles and Practice (Walk-forward chronological time-series cross validation).</a:t>
            </a:r>
          </a:p>
          <a:p>
            <a:pPr>
              <a:spcAft>
                <a:spcPts val="250"/>
              </a:spcAft>
              <a:defRPr sz="1350" b="1">
                <a:solidFill>
                  <a:srgbClr val="1F6B45"/>
                </a:solidFill>
                <a:latin typeface="Calibri"/>
              </a:defRPr>
            </a:pPr>
            <a:r>
              <a:t>3. Project Repository &amp; Prototype:</a:t>
            </a:r>
          </a:p>
          <a:p>
            <a:pPr>
              <a:spcAft>
                <a:spcPts val="250"/>
              </a:spcAft>
              <a:defRPr sz="1200" b="0">
                <a:solidFill>
                  <a:srgbClr val="1F6B45"/>
                </a:solidFill>
                <a:latin typeface="Calibri"/>
              </a:defRPr>
            </a:pPr>
            <a:r>
              <a:t>- GitHub Live Codebase: https://github.com/greeshmanth07/CropCast</a:t>
            </a:r>
          </a:p>
          <a:p>
            <a:pPr>
              <a:spcAft>
                <a:spcPts val="250"/>
              </a:spcAft>
              <a:defRPr sz="1200" b="0">
                <a:solidFill>
                  <a:srgbClr val="112018"/>
                </a:solidFill>
                <a:latin typeface="Calibri"/>
              </a:defRPr>
            </a:pPr>
            <a:r>
              <a:t>- Cloud Database: Supabase PostgreSQL (AWS ap-southeast-1 region)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t>Team CropCast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